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97" r:id="rId6"/>
    <p:sldId id="263" r:id="rId7"/>
    <p:sldId id="314" r:id="rId8"/>
    <p:sldId id="259" r:id="rId9"/>
    <p:sldId id="274" r:id="rId10"/>
    <p:sldId id="298" r:id="rId11"/>
    <p:sldId id="275" r:id="rId12"/>
    <p:sldId id="304" r:id="rId13"/>
    <p:sldId id="300" r:id="rId14"/>
    <p:sldId id="305" r:id="rId15"/>
    <p:sldId id="306" r:id="rId16"/>
    <p:sldId id="307" r:id="rId17"/>
    <p:sldId id="315" r:id="rId18"/>
    <p:sldId id="316" r:id="rId19"/>
    <p:sldId id="317" r:id="rId20"/>
    <p:sldId id="318" r:id="rId21"/>
    <p:sldId id="319" r:id="rId22"/>
    <p:sldId id="299" r:id="rId23"/>
    <p:sldId id="308" r:id="rId24"/>
    <p:sldId id="309" r:id="rId25"/>
    <p:sldId id="310" r:id="rId26"/>
    <p:sldId id="301" r:id="rId27"/>
    <p:sldId id="311" r:id="rId28"/>
    <p:sldId id="312" r:id="rId29"/>
    <p:sldId id="258" r:id="rId30"/>
    <p:sldId id="26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996E08-6D99-7B79-DE8C-D9B8B3B5E5F6}" v="3" dt="2025-10-20T06:23:31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26" autoAdjust="0"/>
  </p:normalViewPr>
  <p:slideViewPr>
    <p:cSldViewPr snapToGrid="0">
      <p:cViewPr varScale="1">
        <p:scale>
          <a:sx n="78" d="100"/>
          <a:sy n="78" d="100"/>
        </p:scale>
        <p:origin x="1109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ê Xuân Nam" userId="S::106220226@sv1.dut.udn.vn::8784bee4-480d-4412-910c-893e04af5d12" providerId="AD" clId="Web-{92996E08-6D99-7B79-DE8C-D9B8B3B5E5F6}"/>
    <pc:docChg chg="modSld">
      <pc:chgData name="Lê Xuân Nam" userId="S::106220226@sv1.dut.udn.vn::8784bee4-480d-4412-910c-893e04af5d12" providerId="AD" clId="Web-{92996E08-6D99-7B79-DE8C-D9B8B3B5E5F6}" dt="2025-10-20T06:23:31.381" v="2" actId="20577"/>
      <pc:docMkLst>
        <pc:docMk/>
      </pc:docMkLst>
      <pc:sldChg chg="modSp">
        <pc:chgData name="Lê Xuân Nam" userId="S::106220226@sv1.dut.udn.vn::8784bee4-480d-4412-910c-893e04af5d12" providerId="AD" clId="Web-{92996E08-6D99-7B79-DE8C-D9B8B3B5E5F6}" dt="2025-10-20T06:23:31.381" v="2" actId="20577"/>
        <pc:sldMkLst>
          <pc:docMk/>
          <pc:sldMk cId="2808251279" sldId="256"/>
        </pc:sldMkLst>
        <pc:spChg chg="mod">
          <ac:chgData name="Lê Xuân Nam" userId="S::106220226@sv1.dut.udn.vn::8784bee4-480d-4412-910c-893e04af5d12" providerId="AD" clId="Web-{92996E08-6D99-7B79-DE8C-D9B8B3B5E5F6}" dt="2025-10-20T06:23:31.381" v="2" actId="20577"/>
          <ac:spMkLst>
            <pc:docMk/>
            <pc:sldMk cId="2808251279" sldId="256"/>
            <ac:spMk id="4" creationId="{77BC51A4-5B59-8A33-71E9-028C13C8ACA9}"/>
          </ac:spMkLst>
        </pc:spChg>
        <pc:spChg chg="mod">
          <ac:chgData name="Lê Xuân Nam" userId="S::106220226@sv1.dut.udn.vn::8784bee4-480d-4412-910c-893e04af5d12" providerId="AD" clId="Web-{92996E08-6D99-7B79-DE8C-D9B8B3B5E5F6}" dt="2025-10-20T06:22:08.316" v="0" actId="1076"/>
          <ac:spMkLst>
            <pc:docMk/>
            <pc:sldMk cId="2808251279" sldId="256"/>
            <ac:spMk id="6" creationId="{DB66A4CF-53EE-DE34-3FAB-9024EB0BF4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7DED-0943-2F4E-2671-2DB13036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16A2D-1B0A-CE37-3608-35CF9ED3D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1A168-A285-F311-DBD4-D212B001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3A97E-4798-305A-067E-9F6E54DD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88654-852F-6A51-FBFE-5531B106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5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02D7-1ABB-43F4-7E9B-153A7548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4040-B668-7366-8C3D-3007DC2A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5977E-F0F4-86F8-0B7F-C30A1A8F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1EE6-9841-9DC7-039C-5B84BBC2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3540C-BB99-1C27-4443-5F36BDE0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7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D60E-8FD2-E923-9695-61D67E76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F5F6D-350B-8206-B6C4-1B488FD6C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A1DA4-ECD9-1E67-4591-6E183472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F473-228C-2DD1-1C69-092F21AC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CE7C-3F6A-2F9C-885B-E6B964952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1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B619-62D8-602E-A370-E4F43394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FD9A-8612-1037-ABE3-1FD22674E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0D6EA-B271-B3B4-EC8C-188D2896A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33EB-DA20-2D30-5F89-621889DE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D028-07B1-DF58-22FA-224C3C18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1817D-3F84-BB14-8316-9AC7F720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7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B631-572B-CCCE-016F-167F0F23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AE52-D13D-5BF7-97B4-5F8AFFDE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FD8E6-9165-16E3-BDFC-4134D97C0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D8AFD-B401-9365-F94F-E63963D1A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E8418-F2EC-3EFC-68AD-9496BB132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939ED8-DCA9-4019-C3FA-9CD415CA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D58CA-9565-5936-8752-57658AAC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4A19-E41C-7596-22B7-6FB55D27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D7A-784F-60A1-4509-F6BACE8B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A1ED5-8D43-E627-EC34-094ECA10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F0ECB-BEF1-66AD-D346-EEA53DFD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8420F-226D-F5A9-9BE3-87FDDBEE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6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031C0-5349-5F05-638E-28ED50B8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0BC3E-8E1E-7DDD-85D6-3A047956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43A2-2E5A-5DBF-A74D-EECBBE52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1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C975-06AA-A29E-2654-EFBF9E0B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CC749-0F0C-CBB8-94FA-400E5BF48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E208B-84E1-0BBE-991B-37E3CB34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F5DA9-DD61-F5AB-FB9D-E2AD708A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9E9A9-2C4A-7084-FFCC-BC4E6FD1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351B1-C645-BC7E-BE66-8AA08401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9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1AE7-6C0C-B427-3400-033C3DAB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E86E8-A1F1-33C3-CA13-CAAD0AAFE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642E1-3BD1-A67B-422B-063C1E1D4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52560-3193-6F5E-465D-CDA69316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1C943-7483-8BD7-A157-48273A4E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6A95E-A947-F33F-3263-38D1C43D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8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FCEF-7184-0ECD-1682-3086DFD5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FB38B-2414-5494-747A-AF056FA10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58218-E951-50EC-94FB-CFA12310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C85CF-74ED-81A1-8CF1-001D7733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9F248-CFDF-2FA7-B618-3FE2C9EC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AD946-F509-E4F1-9F4D-DCEEC9CA7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7480E-5E55-E4C0-D3D7-DAFDBF41D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4C7D-8058-7795-C6EF-046F187A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29146-34B4-AB84-A61A-88864E7C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ED08B-9865-A8F8-9CF5-F230CCBA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3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3D113-D187-B07B-4C30-EE7AD219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3100F-CF65-F5AB-73D3-016D0239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DA1F-2F54-66D8-6F34-C3A346CE3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5630D-0539-7CF9-1EBB-6DDA666F5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3A8AA-1B9C-6811-09C1-7DA01E724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4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viblo.asia/p/hoc-flutter-tu-co-ban-den-nang-cao-phan-4-lot-tran-inheritedwidget-3P0lPDbmlox" TargetMode="External"/><Relationship Id="rId2" Type="http://schemas.openxmlformats.org/officeDocument/2006/relationships/hyperlink" Target="https://api.flutter.dev/flutter/widgets/InheritedWidget-clas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3kaGC_DrUnw" TargetMode="External"/><Relationship Id="rId5" Type="http://schemas.openxmlformats.org/officeDocument/2006/relationships/hyperlink" Target="https://api.flutter.dev/flutter" TargetMode="External"/><Relationship Id="rId4" Type="http://schemas.openxmlformats.org/officeDocument/2006/relationships/hyperlink" Target="https://docs.flutter.dev/per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053F25-8F5D-47E5-4402-C4983D6C5155}"/>
              </a:ext>
            </a:extLst>
          </p:cNvPr>
          <p:cNvSpPr/>
          <p:nvPr/>
        </p:nvSpPr>
        <p:spPr>
          <a:xfrm>
            <a:off x="0" y="2463282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A9112-BE2C-E557-2EAD-5DFB8E4B2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372" y="2582549"/>
            <a:ext cx="11919284" cy="1082352"/>
          </a:xfrm>
        </p:spPr>
        <p:txBody>
          <a:bodyPr>
            <a:normAutofit/>
          </a:bodyPr>
          <a:lstStyle/>
          <a:p>
            <a:pPr fontAlgn="base"/>
            <a:r>
              <a:rPr lang="vi-VN" b="1" dirty="0">
                <a:solidFill>
                  <a:schemeClr val="bg1"/>
                </a:solidFill>
                <a:latin typeface="Calibri Light (Headings)"/>
                <a:ea typeface="Calibri" panose="020F0502020204030204" pitchFamily="34" charset="0"/>
                <a:cs typeface="Calibri" panose="020F0502020204030204" pitchFamily="34" charset="0"/>
              </a:rPr>
              <a:t>InheritedWidget - Cơ sở của Provider</a:t>
            </a:r>
            <a:r>
              <a:rPr lang="vi-VN" dirty="0">
                <a:solidFill>
                  <a:schemeClr val="bg1"/>
                </a:solidFill>
                <a:latin typeface="Calibri Light (Headings)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solidFill>
                <a:schemeClr val="bg1"/>
              </a:solidFill>
              <a:latin typeface="Calibri Light (Headings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6323E-9F1D-1C09-1C62-4C0F2F32C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4" y="4357390"/>
            <a:ext cx="5116286" cy="891326"/>
          </a:xfrm>
        </p:spPr>
        <p:txBody>
          <a:bodyPr/>
          <a:lstStyle/>
          <a:p>
            <a:pPr algn="just"/>
            <a:r>
              <a:rPr lang="en-US" dirty="0"/>
              <a:t>SVTH: 	1. </a:t>
            </a:r>
            <a:r>
              <a:rPr lang="vi-VN" dirty="0"/>
              <a:t>Trần Anh Toàn</a:t>
            </a:r>
            <a:endParaRPr lang="en-US" dirty="0"/>
          </a:p>
          <a:p>
            <a:pPr algn="just"/>
            <a:r>
              <a:rPr lang="en-US" dirty="0"/>
              <a:t>	2. </a:t>
            </a:r>
            <a:r>
              <a:rPr lang="vi-VN" dirty="0"/>
              <a:t>Lê Thanh Trà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7BC51A4-5B59-8A33-71E9-028C13C8ACA9}"/>
              </a:ext>
            </a:extLst>
          </p:cNvPr>
          <p:cNvSpPr txBox="1">
            <a:spLocks/>
          </p:cNvSpPr>
          <p:nvPr/>
        </p:nvSpPr>
        <p:spPr>
          <a:xfrm>
            <a:off x="1524000" y="1376267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/>
              <a:t>Báo </a:t>
            </a:r>
            <a:r>
              <a:rPr lang="en-US" b="1" dirty="0" err="1"/>
              <a:t>cáo</a:t>
            </a:r>
            <a:r>
              <a:rPr lang="en-US" b="1" dirty="0"/>
              <a:t> </a:t>
            </a:r>
            <a:r>
              <a:rPr lang="en-US" b="1" dirty="0" err="1"/>
              <a:t>Tuần</a:t>
            </a:r>
            <a:endParaRPr lang="en-US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DE3DDE-A8CA-A162-D7B9-7CF8B2DD13B5}"/>
              </a:ext>
            </a:extLst>
          </p:cNvPr>
          <p:cNvSpPr txBox="1">
            <a:spLocks/>
          </p:cNvSpPr>
          <p:nvPr/>
        </p:nvSpPr>
        <p:spPr>
          <a:xfrm>
            <a:off x="2111828" y="1867441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/>
              <a:t>Môn: </a:t>
            </a:r>
            <a:r>
              <a:rPr lang="en-US" sz="2800" dirty="0" err="1"/>
              <a:t>Lập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Đa</a:t>
            </a:r>
            <a:r>
              <a:rPr lang="en-US" sz="2800" dirty="0"/>
              <a:t> </a:t>
            </a:r>
            <a:r>
              <a:rPr lang="en-US" sz="2800" dirty="0" err="1"/>
              <a:t>nền</a:t>
            </a:r>
            <a:r>
              <a:rPr lang="en-US" sz="2800" dirty="0"/>
              <a:t> </a:t>
            </a:r>
            <a:r>
              <a:rPr lang="en-US" sz="2800" dirty="0" err="1"/>
              <a:t>tảng</a:t>
            </a:r>
            <a:endParaRPr lang="en-US" sz="28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B66A4CF-53EE-DE34-3FAB-9024EB0BF4C4}"/>
              </a:ext>
            </a:extLst>
          </p:cNvPr>
          <p:cNvSpPr txBox="1">
            <a:spLocks/>
          </p:cNvSpPr>
          <p:nvPr/>
        </p:nvSpPr>
        <p:spPr>
          <a:xfrm>
            <a:off x="3669242" y="390572"/>
            <a:ext cx="5116286" cy="718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/>
              <a:t>TRƯỜNG ĐẠI HỌC BÁCH KHOA</a:t>
            </a:r>
          </a:p>
          <a:p>
            <a:r>
              <a:rPr lang="en-US" sz="2000" b="1"/>
              <a:t>KHOA ĐIỆN TỬ - VIỄN THÔNG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936180-4B93-7126-3B30-A55A320EE230}"/>
              </a:ext>
            </a:extLst>
          </p:cNvPr>
          <p:cNvSpPr txBox="1">
            <a:spLocks/>
          </p:cNvSpPr>
          <p:nvPr/>
        </p:nvSpPr>
        <p:spPr>
          <a:xfrm>
            <a:off x="3862871" y="6078889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Đà</a:t>
            </a:r>
            <a:r>
              <a:rPr lang="en-US" dirty="0"/>
              <a:t> </a:t>
            </a:r>
            <a:r>
              <a:rPr lang="en-US" dirty="0" err="1"/>
              <a:t>Nẵng</a:t>
            </a:r>
            <a:r>
              <a:rPr lang="en-US" dirty="0"/>
              <a:t>, </a:t>
            </a:r>
            <a:r>
              <a:rPr lang="vi-VN" dirty="0"/>
              <a:t>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5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DCEE-8E95-B0C2-53D0-5DF599A6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1592A7-63B2-0FD4-6DD5-1C88652AA063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FD7AA-F38A-DD04-57EE-48A7D653D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8A255-C472-BF28-7AD0-15276FD04D9E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/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/>
              <a:t> </a:t>
            </a:r>
            <a:r>
              <a:rPr lang="vi-VN" sz="3600" dirty="0"/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/>
              <a:t> </a:t>
            </a:r>
            <a:r>
              <a:rPr lang="vi-VN" sz="3600" dirty="0"/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/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/>
              <a:t> </a:t>
            </a:r>
            <a:r>
              <a:rPr lang="vi-VN" sz="3600" dirty="0"/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42120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9E75-167F-73B2-6099-8E065DA90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EEC2BB-DCDB-F5CA-52FC-03467ED90F08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8E80-C9AC-3D97-5F1D-BC38E7ECE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037E6-554C-D53F-8E79-715F2BB45053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b="1" dirty="0"/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224883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0C72-AC59-62FE-1823-B897D13BB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832E-3E39-14D3-ED69-BF9D9932E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1427-1E47-DF8B-3D25-13094C638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3484"/>
            <a:ext cx="10515600" cy="1546839"/>
          </a:xfrm>
        </p:spPr>
        <p:txBody>
          <a:bodyPr>
            <a:noAutofit/>
          </a:bodyPr>
          <a:lstStyle/>
          <a:p>
            <a:pPr algn="just"/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b="1" i="1" dirty="0" err="1"/>
              <a:t>OverviewPage</a:t>
            </a:r>
            <a:r>
              <a:rPr lang="en-US" i="1" dirty="0"/>
              <a:t>, </a:t>
            </a:r>
            <a:r>
              <a:rPr lang="en-US" b="1" i="1" dirty="0" err="1"/>
              <a:t>MissionPage</a:t>
            </a:r>
            <a:r>
              <a:rPr lang="en-US" i="1" dirty="0"/>
              <a:t>, </a:t>
            </a:r>
            <a:r>
              <a:rPr lang="en-US" b="1" i="1" dirty="0" err="1"/>
              <a:t>DashboardPage</a:t>
            </a:r>
            <a:r>
              <a:rPr lang="en-US" i="1" dirty="0"/>
              <a:t>, </a:t>
            </a:r>
            <a:r>
              <a:rPr lang="en-US" b="1" i="1" dirty="0" err="1"/>
              <a:t>StreamPage</a:t>
            </a:r>
            <a:r>
              <a:rPr lang="en-US" i="1" dirty="0"/>
              <a:t>,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b="1" i="1" dirty="0" err="1"/>
              <a:t>SettingPage</a:t>
            </a:r>
            <a:r>
              <a:rPr lang="en-US" i="1" dirty="0"/>
              <a:t>.</a:t>
            </a:r>
            <a:endParaRPr lang="vi-VN" i="1" dirty="0"/>
          </a:p>
          <a:p>
            <a:pPr algn="just"/>
            <a:r>
              <a:rPr lang="en-US" dirty="0"/>
              <a:t>Các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qua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b="1" dirty="0"/>
              <a:t>Drawer menu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Scaffold.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C46C5B-3852-F1B1-C00B-38F241C02B49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0D20CD-B854-B80B-DB1E-9395AE7E544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Vấn đề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50871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9BBC-3E10-D0D5-139D-7420ACE0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07791-8943-D3F4-B75F-D1180A76B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3484"/>
            <a:ext cx="10606548" cy="154683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vi-VN" dirty="0"/>
              <a:t>Làm thế nào để mọi widget trong cây có thể truy cập và thay đổi trạng thái ứng dụng (ví dụ: chuyển trang, đổi theme) mà không cần truyền thủ công qua constructor?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4D88C8-171E-66FC-BB0A-AF9C0B917E6D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56266-06DA-5CBB-BD14-D062FDE287A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Vấn đề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04092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06F9-44F8-0005-F0CA-FF8CCDFB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81CD-06AE-543B-999D-63F16DBA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async/await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40189-5268-841D-D555-4CAB44EB7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4097"/>
            <a:ext cx="10278979" cy="24605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InheritedWidget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 err="1"/>
              <a:t>StatefulWidget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b="1" dirty="0" err="1"/>
              <a:t>AppState</a:t>
            </a:r>
            <a:r>
              <a:rPr lang="en-US" dirty="0"/>
              <a:t> –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Trang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(</a:t>
            </a:r>
            <a:r>
              <a:rPr lang="en-US" dirty="0" err="1"/>
              <a:t>currentPage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(</a:t>
            </a:r>
            <a:r>
              <a:rPr lang="en-US" dirty="0" err="1"/>
              <a:t>isDarkTheme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Các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</a:t>
            </a:r>
            <a:r>
              <a:rPr lang="en-US" dirty="0" err="1"/>
              <a:t>changePage</a:t>
            </a:r>
            <a:r>
              <a:rPr lang="en-US" dirty="0"/>
              <a:t>(), </a:t>
            </a:r>
            <a:r>
              <a:rPr lang="en-US" dirty="0" err="1"/>
              <a:t>toggleTheme</a:t>
            </a:r>
            <a:r>
              <a:rPr lang="en-US" dirty="0"/>
              <a:t>()).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0294C1-3DAA-6B8E-0DDE-86FB061A86CC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CD3D8A9-80A0-26E7-10E0-FE80FFEE31D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  <a:ea typeface="Calibri Light" panose="020F0302020204030204" pitchFamily="34" charset="0"/>
                <a:cs typeface="Calibri Light" panose="020F0302020204030204" pitchFamily="34" charset="0"/>
              </a:rPr>
              <a:t>Cách giải quyết</a:t>
            </a:r>
            <a:endParaRPr lang="en-US" b="1" dirty="0">
              <a:solidFill>
                <a:schemeClr val="bg1"/>
              </a:solidFill>
              <a:latin typeface="Calibri Light (Headings)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7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66E8-1DA0-3B32-8A6A-CEF5B1BF3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3EB0CE-860C-8608-3923-76D4089C173F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88AC1-6CD6-8E42-9043-07C4B893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B755D-7A6B-0CBB-767D-7910ADC0B7D9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b="1" dirty="0"/>
              <a:t> </a:t>
            </a:r>
            <a:r>
              <a:rPr lang="vi-VN" sz="3600" b="1" dirty="0"/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4048941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6D63-E62F-0E07-CFDF-44834C78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8960-85BF-29E4-892C-7D2DFD6E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76D6C-2583-2858-5084-3EFF32D3E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1748" cy="4368698"/>
          </a:xfrm>
        </p:spPr>
        <p:txBody>
          <a:bodyPr>
            <a:noAutofit/>
          </a:bodyPr>
          <a:lstStyle/>
          <a:p>
            <a:r>
              <a:rPr lang="vi-VN" dirty="0"/>
              <a:t>Một loại widget đặc biệt trong Flutter</a:t>
            </a:r>
          </a:p>
          <a:p>
            <a:endParaRPr lang="vi-VN" dirty="0"/>
          </a:p>
          <a:p>
            <a:r>
              <a:rPr lang="vi-VN" dirty="0"/>
              <a:t>Cho phép chia sẻ dữ liệu từ widget cha xuống các widget con một cách hiệu quả mà không cần truyền tham số qua constructor.</a:t>
            </a:r>
          </a:p>
          <a:p>
            <a:endParaRPr lang="vi-VN" sz="3000" dirty="0"/>
          </a:p>
          <a:p>
            <a:r>
              <a:rPr lang="vi-VN" dirty="0"/>
              <a:t>C</a:t>
            </a:r>
            <a:r>
              <a:rPr lang="en-US" dirty="0" err="1"/>
              <a:t>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Provider, </a:t>
            </a:r>
            <a:r>
              <a:rPr lang="en-US" dirty="0" err="1"/>
              <a:t>Riverpod</a:t>
            </a:r>
            <a:r>
              <a:rPr lang="en-US" dirty="0"/>
              <a:t>, Bloc, v.v.</a:t>
            </a:r>
          </a:p>
          <a:p>
            <a:endParaRPr lang="vi-VN" sz="3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F31B0A-D97A-FCF8-46E8-CA5F1EA9E909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72807A-EA49-B5F6-6E4D-9E9A772DB5D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InheritedWidget 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63551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7C9BB-87E3-3181-1EF2-D61342041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9F41-BC77-9859-8E37-DC8AF678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28A0F-9255-8F46-88D0-E204C7484EF2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1C8EB2-3E1E-2FED-DCAF-3123204376E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E13508E-50C5-1586-3085-741250845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689" y="1400795"/>
            <a:ext cx="6594987" cy="53119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368153-27F8-DE8F-3D29-99283D1914C9}"/>
              </a:ext>
            </a:extLst>
          </p:cNvPr>
          <p:cNvSpPr txBox="1"/>
          <p:nvPr/>
        </p:nvSpPr>
        <p:spPr>
          <a:xfrm>
            <a:off x="6570407" y="3247592"/>
            <a:ext cx="61009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algn="ctr">
              <a:buNone/>
            </a:pPr>
            <a:r>
              <a:rPr lang="vi-VN" sz="2800" dirty="0">
                <a:effectLst/>
                <a:latin typeface="Arial (Body)"/>
                <a:ea typeface="Calibri" panose="020F0502020204030204" pitchFamily="34" charset="0"/>
                <a:cs typeface="Calibri" panose="020F0502020204030204" pitchFamily="34" charset="0"/>
              </a:rPr>
              <a:t>AppState </a:t>
            </a:r>
            <a:r>
              <a:rPr lang="vi-VN" sz="2800" b="1" dirty="0">
                <a:effectLst/>
                <a:latin typeface="Arial (Body)"/>
                <a:ea typeface="Calibri" panose="020F0502020204030204" pitchFamily="34" charset="0"/>
                <a:cs typeface="Calibri" panose="020F0502020204030204" pitchFamily="34" charset="0"/>
              </a:rPr>
              <a:t>kế thừa từ InheritedWidget</a:t>
            </a:r>
            <a:endParaRPr lang="en-US" sz="2800" dirty="0">
              <a:effectLst/>
              <a:latin typeface="Arial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8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99085-7C45-CAED-9DF3-CE00D91DF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FE65BD-0776-09D4-920E-A8DB27618ABA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5FB17-39DB-939A-A60D-E1EB63C5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3D303-CDD2-5EE2-3EB2-C32F1EF226AC}"/>
              </a:ext>
            </a:extLst>
          </p:cNvPr>
          <p:cNvSpPr txBox="1"/>
          <p:nvPr/>
        </p:nvSpPr>
        <p:spPr>
          <a:xfrm>
            <a:off x="838200" y="2055813"/>
            <a:ext cx="11353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b="1" dirty="0"/>
              <a:t> </a:t>
            </a:r>
            <a:r>
              <a:rPr lang="vi-VN" sz="3600" b="1" dirty="0"/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247851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1ADA-2F3E-3459-5318-A4D1564B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2880C-4C9E-EFA6-B63A-D928024E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8E2AE-3D09-0088-7841-22494882ED43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C71FCD-672F-1B63-AD0E-BC0A009F50E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2849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Context.dependOnInheritedWidgetOfExactType()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886624-4021-AA91-9698-03C38908F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3562452"/>
          </a:xfrm>
        </p:spPr>
        <p:txBody>
          <a:bodyPr/>
          <a:lstStyle/>
          <a:p>
            <a:r>
              <a:rPr lang="vi-VN" dirty="0"/>
              <a:t>Câu lệnh giúp widget con truy cập dữ liệu từ InheritedWidget trong cây widget phía trên</a:t>
            </a:r>
          </a:p>
          <a:p>
            <a:endParaRPr lang="vi-VN" dirty="0"/>
          </a:p>
          <a:p>
            <a:r>
              <a:rPr lang="vi-VN" dirty="0"/>
              <a:t>Không chỉ lấy dữ liệu - bạn còn thiết lập mối quan hệ phụ thuộc. </a:t>
            </a:r>
          </a:p>
          <a:p>
            <a:endParaRPr lang="vi-VN" dirty="0"/>
          </a:p>
          <a:p>
            <a:r>
              <a:rPr lang="vi-VN" dirty="0"/>
              <a:t>Nếu dữ liệu trong InheritedWidget đổi, widget của bạn cũng đổi theo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790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AD36-F24D-27C2-91E7-206B5DA4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4FFA-8DAB-8D7E-5338-AAEA61FE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04B050-7E4F-538E-0BB5-6BAD499CE936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6F13F7-156E-0B79-C17C-41B73C30D5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Cách hoạt động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8AAC0E-CE59-7D1F-1B2E-7A003ADD6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8413"/>
            <a:ext cx="10515600" cy="3355975"/>
          </a:xfrm>
        </p:spPr>
        <p:txBody>
          <a:bodyPr/>
          <a:lstStyle/>
          <a:p>
            <a:r>
              <a:rPr lang="vi-VN" dirty="0"/>
              <a:t>Khi gọi </a:t>
            </a:r>
            <a:r>
              <a:rPr lang="vi-VN" b="1" dirty="0"/>
              <a:t>dependOnInheritedWidgetOfExactType&lt;T&gt;()</a:t>
            </a:r>
            <a:r>
              <a:rPr lang="vi-VN" dirty="0"/>
              <a:t>, Flutter sẽ đăng ký widget hiện tại (caller) như một “người phụ thuộc” (dependent) của InheritedWidget đó.</a:t>
            </a:r>
            <a:endParaRPr lang="en-US" dirty="0"/>
          </a:p>
          <a:p>
            <a:endParaRPr lang="vi-VN" dirty="0"/>
          </a:p>
          <a:p>
            <a:r>
              <a:rPr lang="vi-VN" dirty="0"/>
              <a:t>Khi InheritedWidget cập nhật dữ liệu và phương thức updateShouldNotify() trả về true, tất cả widget con phụ thuộc sẽ được rebuild tự động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4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0495-E89E-B51D-DEB9-1C6F26AD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3B39-DC39-69E4-8D6D-5950C849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E6C60-A203-A646-3006-273273961577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D057D5-53DD-9733-2B24-AA7E45A91A2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ED0AB2E-08BB-7C51-082E-64527218F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1956" y="1902391"/>
            <a:ext cx="9971844" cy="305321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7DA346-8FE2-F30C-0A6C-49A9407E3B04}"/>
              </a:ext>
            </a:extLst>
          </p:cNvPr>
          <p:cNvSpPr txBox="1"/>
          <p:nvPr/>
        </p:nvSpPr>
        <p:spPr>
          <a:xfrm>
            <a:off x="2279150" y="5167312"/>
            <a:ext cx="99718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Arial (Body)"/>
                <a:ea typeface="Times New Roman" panose="02020603050405020304" pitchFamily="18" charset="0"/>
              </a:rPr>
              <a:t>c</a:t>
            </a:r>
            <a:r>
              <a:rPr lang="vi-VN" sz="2800" dirty="0">
                <a:effectLst/>
                <a:latin typeface="Arial (Body)"/>
                <a:ea typeface="Times New Roman" panose="02020603050405020304" pitchFamily="18" charset="0"/>
              </a:rPr>
              <a:t>ontext.dependOnInheritedWidgetOfExactType()</a:t>
            </a:r>
            <a:endParaRPr lang="en-US" sz="28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335559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75E2-612C-38B5-C556-75ADDC37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051B-97D1-17D0-3C72-4DDA0DF9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425C1-81B6-0DCA-BC15-C07B5076A878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E1A71C-AC0E-8BCE-32A5-6902BB5D959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172AA2-96D9-99C2-C041-77EA1F6E1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3746" y="1481496"/>
            <a:ext cx="8124507" cy="4637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022A19-DCB7-DAB2-BFC8-51DA58CB34F3}"/>
              </a:ext>
            </a:extLst>
          </p:cNvPr>
          <p:cNvSpPr txBox="1"/>
          <p:nvPr/>
        </p:nvSpPr>
        <p:spPr>
          <a:xfrm>
            <a:off x="3275369" y="6144963"/>
            <a:ext cx="5641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dirty="0">
                <a:effectLst/>
                <a:latin typeface="Arial (Body)"/>
                <a:ea typeface="DengXian" panose="02010600030101010101" pitchFamily="2" charset="-122"/>
              </a:rPr>
              <a:t>L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ấy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giá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trị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từ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AppState.of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(context)</a:t>
            </a:r>
            <a:endParaRPr lang="en-US" sz="28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533749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FB34-049F-2EDF-8852-0BCA196EC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5241-7FB0-110D-7CC2-1BE6BD46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5C539-12D8-4A74-7166-1A487C43E3D6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60DC5C-ABE7-FBB6-61ED-5674B25B3D8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E503E6-927C-051F-8951-27582D37E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1615" y="0"/>
            <a:ext cx="3660136" cy="6766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C02EA-F3C1-2213-2415-5CC127BEE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51" y="0"/>
            <a:ext cx="3732494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5A6978-B41D-12AB-757A-62A55D85DF4C}"/>
              </a:ext>
            </a:extLst>
          </p:cNvPr>
          <p:cNvSpPr txBox="1"/>
          <p:nvPr/>
        </p:nvSpPr>
        <p:spPr>
          <a:xfrm>
            <a:off x="179439" y="3274650"/>
            <a:ext cx="39021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dirty="0">
                <a:effectLst/>
                <a:latin typeface="Arial (Body)"/>
                <a:ea typeface="DengXian" panose="02010600030101010101" pitchFamily="2" charset="-122"/>
              </a:rPr>
              <a:t>Kết quả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theme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sáng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và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tối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khi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isDark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thay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đổi</a:t>
            </a:r>
            <a:endParaRPr lang="en-US" sz="28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978150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559A-DEA5-D86B-8E54-35292A7E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77FF-7C77-BA0A-526F-DC429B71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E7070-A18C-ABCB-41E3-1A412E1D1032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9261BC-5965-11D4-3987-02CF11942A1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3E9A66-7C34-AEE4-449E-AFF91CB404B6}"/>
              </a:ext>
            </a:extLst>
          </p:cNvPr>
          <p:cNvSpPr txBox="1"/>
          <p:nvPr/>
        </p:nvSpPr>
        <p:spPr>
          <a:xfrm>
            <a:off x="497764" y="3295245"/>
            <a:ext cx="5303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dirty="0"/>
              <a:t>G</a:t>
            </a:r>
            <a:r>
              <a:rPr lang="en-US" sz="2800" dirty="0" err="1"/>
              <a:t>ọi</a:t>
            </a:r>
            <a:r>
              <a:rPr lang="en-US" sz="2800" dirty="0"/>
              <a:t> </a:t>
            </a:r>
            <a:r>
              <a:rPr lang="en-US" sz="2800" dirty="0" err="1"/>
              <a:t>changePage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thay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trang</a:t>
            </a:r>
            <a:endParaRPr lang="en-US" sz="2800" dirty="0">
              <a:latin typeface="Arial (Body)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CA0CC4-7F6D-C584-2942-4A8679D72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3552" y="0"/>
            <a:ext cx="4681995" cy="6852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272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CA3F-C91A-37A8-093D-54897565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8384-EE73-0DFE-6896-FD1E643F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06827-3B44-82A8-6000-1DE5FBD34FFB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862BCF-FD0E-72CB-D5C9-00407A57236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5A874E-2A26-16A5-F89E-F78AF5C98B4A}"/>
              </a:ext>
            </a:extLst>
          </p:cNvPr>
          <p:cNvSpPr txBox="1"/>
          <p:nvPr/>
        </p:nvSpPr>
        <p:spPr>
          <a:xfrm>
            <a:off x="179438" y="3274650"/>
            <a:ext cx="45597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overviewPage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missionPage</a:t>
            </a:r>
            <a:endParaRPr lang="en-US" sz="28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D255EDD-A39E-BB3D-6291-C3822A317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8711" y="0"/>
            <a:ext cx="3698109" cy="6837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390C3A-A54C-5163-70D1-E554CCFA6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820" y="0"/>
            <a:ext cx="3698109" cy="683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57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E3187-DEFA-8C4D-96EB-5CD3D2F7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6633-91FF-C305-0DFD-8A1BE84A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D29F60-4CA7-0791-30CD-BCAA78411BEF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F3D74F-5E3B-5CF8-2EF3-FAD6F29C85F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276B7-3D5B-BC26-CAB2-E78C48E4F08E}"/>
              </a:ext>
            </a:extLst>
          </p:cNvPr>
          <p:cNvSpPr txBox="1"/>
          <p:nvPr/>
        </p:nvSpPr>
        <p:spPr>
          <a:xfrm>
            <a:off x="838200" y="3291953"/>
            <a:ext cx="49923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vi-VN" sz="2800" dirty="0"/>
              <a:t>dashboardPage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vi-VN" sz="2800" dirty="0"/>
              <a:t> streamPage</a:t>
            </a: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47D694-ED1D-6E99-83C8-46C4BE137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9830" y="0"/>
            <a:ext cx="3752633" cy="6858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DA5439-3D79-83B4-793F-2F4FF9CC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463" y="-521"/>
            <a:ext cx="3749537" cy="68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89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A3CC-506E-648E-566B-39E01292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29311A-7CA3-659A-F0DC-7B7B801ACCF4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8900C-06A1-9DAE-B4AA-7B9914D4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2E3A3-F220-7AEF-2674-D64BD70DC0AF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b="1" dirty="0"/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2329749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6D40E-34F4-2B49-2B62-53668204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8BFE-4902-46E3-FBBB-48808A93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83B4CE-981C-B56B-6857-5EE651325A8F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637165-90C0-1A15-B17A-D0D09263EBE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2849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Ưu điểm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B52AF5-D674-FD01-A2B7-BFFB9E232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3562452"/>
          </a:xfrm>
        </p:spPr>
        <p:txBody>
          <a:bodyPr/>
          <a:lstStyle/>
          <a:p>
            <a:r>
              <a:rPr lang="en-US" dirty="0"/>
              <a:t>Khi </a:t>
            </a:r>
            <a:r>
              <a:rPr lang="en-US" dirty="0" err="1"/>
              <a:t>InheritedWidget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widget con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“depend on”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rebuild.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Các widget khác không phụ thuộc sẽ không bị ảnh hưởng.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Tối ưu render.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173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3EEDB-E82C-3410-4FB3-A8DE5082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7B7F-0050-B44C-3713-8880A0BC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D2DE4F-E4A4-02E1-A03E-76FBB2B6AC53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228EC6-C9FE-EECB-EDCF-F11536CE2BF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Nhược điểm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C5B945-37E0-FA83-4A9C-6FF4AA5EC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21807"/>
            <a:ext cx="10515600" cy="1325563"/>
          </a:xfrm>
        </p:spPr>
        <p:txBody>
          <a:bodyPr/>
          <a:lstStyle/>
          <a:p>
            <a:pPr lvl="0"/>
            <a:r>
              <a:rPr lang="vi-VN" dirty="0"/>
              <a:t>Nếu đặt InheritedWidget quá cao trong cây widget dẫn đến khi dữ liệu thay đổi, cả vùng lớn của cây sẽ rebuild (kể cả phần không cần).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304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5B94-5F85-3778-7865-C307B541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216B-AD3C-38AA-0FC1-FC2B9EB71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9F4B0-AF74-DB4C-BE57-832252716433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759263-0041-F87F-5516-83494B67438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Cách tối ưu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F93B19-1E98-57E0-CE87-FE77BEF56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5393"/>
            <a:ext cx="10515600" cy="3080672"/>
          </a:xfrm>
        </p:spPr>
        <p:txBody>
          <a:bodyPr/>
          <a:lstStyle/>
          <a:p>
            <a:pPr lvl="0"/>
            <a:r>
              <a:rPr lang="vi-VN" dirty="0"/>
              <a:t>Đặt InheritedWidget ở gần vị trí các widget cần dùng nhất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Tách nhỏ dữ liệu thành nhiều InheritedWidget nếu cần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Chỉ rebuild khi thật sự cần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0223-599E-5BDC-FA68-261B274F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2483B9-5B43-D78E-26B9-CBF0E01E811C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13543-C163-9320-719D-6564B01F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CE84D-F995-FCC1-DBC9-362FC42D004F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b="1" dirty="0"/>
              <a:t> </a:t>
            </a:r>
            <a:r>
              <a:rPr lang="vi-VN" sz="3600" b="1" dirty="0"/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1528079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3D52-EA68-375A-247B-49B59004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9E68-2956-5ECD-96F0-BEDB5132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0B25D1-D9EC-9D42-AFF0-C5BE71B082D1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E398352-B824-0E1B-DB5A-C703CC0694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2849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Dùng InheritedWidget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7682F-B164-5039-5B2D-E5E90982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3562452"/>
          </a:xfrm>
        </p:spPr>
        <p:txBody>
          <a:bodyPr>
            <a:normAutofit lnSpcReduction="10000"/>
          </a:bodyPr>
          <a:lstStyle/>
          <a:p>
            <a:pPr lvl="0"/>
            <a:r>
              <a:rPr lang="vi-VN" dirty="0"/>
              <a:t>Bạn cần truyền dữ liệu dùng chung xuống nhiều widget con sâu trong cây.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Dữ liệu có thể thay đổi và bạn muốn tự động rebuild các widget phụ thuộc khi nó thay đổi.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Bạn cần tự quản lý logic chia sẻ dữ liệu mà không dùng package ngoài như Provider, Riverpod, Bloc,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854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C186-53A3-748F-ECBF-EEDBC007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C831-D36B-FD4A-8784-5ED714F9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AB5F5-196D-B7D1-705C-3C8D446E9EC7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F7B403-7209-2E94-A6D4-6D515056F95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Không dùng InheritedWidget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28076D-1994-A1D6-C992-5D2BEE632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8" y="2487562"/>
            <a:ext cx="9308689" cy="2679241"/>
          </a:xfrm>
        </p:spPr>
        <p:txBody>
          <a:bodyPr>
            <a:normAutofit/>
          </a:bodyPr>
          <a:lstStyle/>
          <a:p>
            <a:pPr lvl="0"/>
            <a:r>
              <a:rPr lang="vi-VN" dirty="0"/>
              <a:t>Dữ liệu chỉ dùng tạm ở một vài widget gần nhau</a:t>
            </a:r>
          </a:p>
          <a:p>
            <a:pPr lvl="0"/>
            <a:endParaRPr lang="en-US" dirty="0"/>
          </a:p>
          <a:p>
            <a:r>
              <a:rPr lang="vi-VN" dirty="0"/>
              <a:t>Ứng dụng lớn, có nhiều trạng thái phức tạp </a:t>
            </a:r>
          </a:p>
          <a:p>
            <a:pPr marL="0" indent="0">
              <a:buNone/>
            </a:pPr>
            <a:r>
              <a:rPr lang="vi-VN" dirty="0"/>
              <a:t>→ Nên dùng Provider, Riverpod, Bloc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674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400CB-4D1B-EEBF-F3BA-54A97735A99E}"/>
              </a:ext>
            </a:extLst>
          </p:cNvPr>
          <p:cNvSpPr/>
          <p:nvPr/>
        </p:nvSpPr>
        <p:spPr>
          <a:xfrm>
            <a:off x="0" y="18373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40935-A182-3238-61CF-7B34B597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Phân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công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công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việc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DCB72E-0085-C31A-2D8A-D4096AF71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861284"/>
              </p:ext>
            </p:extLst>
          </p:nvPr>
        </p:nvGraphicFramePr>
        <p:xfrm>
          <a:off x="838200" y="3253208"/>
          <a:ext cx="10515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004">
                  <a:extLst>
                    <a:ext uri="{9D8B030D-6E8A-4147-A177-3AD203B41FA5}">
                      <a16:colId xmlns:a16="http://schemas.microsoft.com/office/drawing/2014/main" val="2572418428"/>
                    </a:ext>
                  </a:extLst>
                </a:gridCol>
                <a:gridCol w="2239347">
                  <a:extLst>
                    <a:ext uri="{9D8B030D-6E8A-4147-A177-3AD203B41FA5}">
                      <a16:colId xmlns:a16="http://schemas.microsoft.com/office/drawing/2014/main" val="3198274142"/>
                    </a:ext>
                  </a:extLst>
                </a:gridCol>
                <a:gridCol w="4899349">
                  <a:extLst>
                    <a:ext uri="{9D8B030D-6E8A-4147-A177-3AD203B41FA5}">
                      <a16:colId xmlns:a16="http://schemas.microsoft.com/office/drawing/2014/main" val="8548336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1988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HỌ VÀ TÊN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TỶ LỆ ĐÓNG GÓP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6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Trần</a:t>
                      </a:r>
                      <a:r>
                        <a:rPr lang="en-US" dirty="0"/>
                        <a:t> Anh </a:t>
                      </a:r>
                      <a:r>
                        <a:rPr lang="en-US" dirty="0" err="1"/>
                        <a:t>Toàn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base">
                        <a:buNone/>
                        <a:tabLst>
                          <a:tab pos="1348740" algn="l"/>
                        </a:tabLst>
                      </a:pPr>
                      <a:r>
                        <a:rPr lang="vi-V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Tìm hiểu và soạn nội dung phần Đặt vấn đề, InheritedWidget.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Lê Thanh Trà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Tìm hiểu và soạn nội dung phần Context.dependOnInheritedWidgetOfExactType(), Performance considerations.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251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019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E2740E-A69D-FEB0-AE0D-D0FCE9C37ED6}"/>
              </a:ext>
            </a:extLst>
          </p:cNvPr>
          <p:cNvSpPr/>
          <p:nvPr/>
        </p:nvSpPr>
        <p:spPr>
          <a:xfrm>
            <a:off x="0" y="18373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DACE4-D3BC-D14F-6F10-4B5559D0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Tài </a:t>
            </a:r>
            <a:r>
              <a:rPr lang="en-US" b="1" dirty="0" err="1">
                <a:solidFill>
                  <a:schemeClr val="bg1"/>
                </a:solidFill>
              </a:rPr>
              <a:t>liệu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tham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khảo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EC67-D094-49BF-AA1D-C1437B7DA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32958" cy="435133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vi-VN" sz="3000" dirty="0"/>
              <a:t>[1]. TS. Nguyễn Duy Nhật Viễn, “Slide bài giảng môn Lập trình Đa Nền Tảng”</a:t>
            </a:r>
            <a:endParaRPr lang="en-US" sz="3000" dirty="0"/>
          </a:p>
          <a:p>
            <a:pPr marL="0" indent="0" fontAlgn="base">
              <a:buNone/>
            </a:pPr>
            <a:r>
              <a:rPr lang="vi-VN" sz="3000" dirty="0"/>
              <a:t>[2]. Flutter Docs, “</a:t>
            </a:r>
            <a:r>
              <a:rPr lang="vi-VN" sz="3000" u="sng" dirty="0">
                <a:hlinkClick r:id="rId2"/>
              </a:rPr>
              <a:t>https://api.flutter.dev/flutter</a:t>
            </a:r>
            <a:r>
              <a:rPr lang="vi-VN" sz="3000" dirty="0"/>
              <a:t>”, 2025</a:t>
            </a:r>
            <a:endParaRPr lang="en-US" sz="3000" dirty="0"/>
          </a:p>
          <a:p>
            <a:pPr marL="0" indent="0" fontAlgn="base">
              <a:buNone/>
            </a:pPr>
            <a:r>
              <a:rPr lang="vi-VN" sz="3000" dirty="0"/>
              <a:t>[3]. Nguyễn Thành Minh, “</a:t>
            </a:r>
            <a:r>
              <a:rPr lang="vi-VN" sz="3000" u="sng" dirty="0">
                <a:hlinkClick r:id="rId3"/>
              </a:rPr>
              <a:t>https://viblo.asia</a:t>
            </a:r>
            <a:r>
              <a:rPr lang="vi-VN" sz="3000" dirty="0"/>
              <a:t>”, 2020</a:t>
            </a:r>
            <a:endParaRPr lang="en-US" sz="3000" dirty="0"/>
          </a:p>
          <a:p>
            <a:pPr marL="0" indent="0" fontAlgn="base">
              <a:buNone/>
            </a:pPr>
            <a:r>
              <a:rPr lang="vi-VN" sz="3000" dirty="0"/>
              <a:t>[4]. Flutter Docs, “</a:t>
            </a:r>
            <a:r>
              <a:rPr lang="vi-VN" sz="3000" u="sng" dirty="0">
                <a:hlinkClick r:id="rId4"/>
              </a:rPr>
              <a:t>https://docs.flutter.dev/perf</a:t>
            </a:r>
            <a:r>
              <a:rPr lang="vi-VN" sz="3000" dirty="0"/>
              <a:t>”, 2025</a:t>
            </a:r>
            <a:endParaRPr lang="en-US" sz="3000" dirty="0"/>
          </a:p>
          <a:p>
            <a:pPr marL="0" indent="0" fontAlgn="base">
              <a:buNone/>
            </a:pPr>
            <a:r>
              <a:rPr lang="vi-VN" sz="3000" dirty="0"/>
              <a:t>[5]. Flutter Docs, “</a:t>
            </a:r>
            <a:r>
              <a:rPr lang="vi-VN" sz="3000" u="sng" dirty="0">
                <a:hlinkClick r:id="rId5"/>
              </a:rPr>
              <a:t>https://api.flutter.dev/flutter</a:t>
            </a:r>
            <a:r>
              <a:rPr lang="vi-VN" sz="3000" dirty="0"/>
              <a:t>”, 2025</a:t>
            </a:r>
            <a:endParaRPr lang="en-US" sz="3000" dirty="0"/>
          </a:p>
          <a:p>
            <a:pPr marL="0" indent="0">
              <a:buNone/>
            </a:pPr>
            <a:r>
              <a:rPr lang="vi-VN" sz="3000" dirty="0"/>
              <a:t>[6]. Flutter Mapp, “</a:t>
            </a:r>
            <a:r>
              <a:rPr lang="vi-VN" sz="3000" u="sng" dirty="0">
                <a:hlinkClick r:id="rId6"/>
              </a:rPr>
              <a:t>https://www.youtube.com/watch?v=3kaGC_DrUnw</a:t>
            </a:r>
            <a:r>
              <a:rPr lang="vi-VN" sz="3000" dirty="0"/>
              <a:t>”, 2025</a:t>
            </a:r>
            <a:endParaRPr lang="en-US" sz="3000" dirty="0"/>
          </a:p>
          <a:p>
            <a:pPr marL="0" indent="0">
              <a:buNone/>
            </a:pPr>
            <a:endParaRPr lang="en-US" sz="30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156571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F6614CC20C2341913E41528EE4FF97" ma:contentTypeVersion="10" ma:contentTypeDescription="Create a new document." ma:contentTypeScope="" ma:versionID="b40676470cc045035f9d286f2cd3f26e">
  <xsd:schema xmlns:xsd="http://www.w3.org/2001/XMLSchema" xmlns:xs="http://www.w3.org/2001/XMLSchema" xmlns:p="http://schemas.microsoft.com/office/2006/metadata/properties" xmlns:ns2="8fc2d97c-f157-4d5f-a344-1f9c94e44560" xmlns:ns3="42f2206f-91ae-4741-9813-edbb31cf99af" targetNamespace="http://schemas.microsoft.com/office/2006/metadata/properties" ma:root="true" ma:fieldsID="0cffd56ac440fb7554c278387cc366f1" ns2:_="" ns3:_="">
    <xsd:import namespace="8fc2d97c-f157-4d5f-a344-1f9c94e44560"/>
    <xsd:import namespace="42f2206f-91ae-4741-9813-edbb31cf99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2d97c-f157-4d5f-a344-1f9c94e445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e44079-f624-4777-a56c-7b7b0d20b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f2206f-91ae-4741-9813-edbb31cf99a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4c5937-dea3-45c3-a6d9-fb7a5347a09c}" ma:internalName="TaxCatchAll" ma:showField="CatchAllData" ma:web="42f2206f-91ae-4741-9813-edbb31cf99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c2d97c-f157-4d5f-a344-1f9c94e44560">
      <Terms xmlns="http://schemas.microsoft.com/office/infopath/2007/PartnerControls"/>
    </lcf76f155ced4ddcb4097134ff3c332f>
    <TaxCatchAll xmlns="42f2206f-91ae-4741-9813-edbb31cf99af" xsi:nil="true"/>
  </documentManagement>
</p:properties>
</file>

<file path=customXml/itemProps1.xml><?xml version="1.0" encoding="utf-8"?>
<ds:datastoreItem xmlns:ds="http://schemas.openxmlformats.org/officeDocument/2006/customXml" ds:itemID="{92A2C832-DD47-4715-8E73-A0AEFF9B6D2F}">
  <ds:schemaRefs>
    <ds:schemaRef ds:uri="42f2206f-91ae-4741-9813-edbb31cf99af"/>
    <ds:schemaRef ds:uri="8fc2d97c-f157-4d5f-a344-1f9c94e445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161603D-3AA2-455F-8950-90C18DB382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A96E9B-63D3-4AA0-AD5B-21734BD577A3}">
  <ds:schemaRefs>
    <ds:schemaRef ds:uri="42f2206f-91ae-4741-9813-edbb31cf99af"/>
    <ds:schemaRef ds:uri="8fc2d97c-f157-4d5f-a344-1f9c94e44560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908</Words>
  <Application>Microsoft Office PowerPoint</Application>
  <PresentationFormat>Widescreen</PresentationFormat>
  <Paragraphs>147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 (Body)</vt:lpstr>
      <vt:lpstr>Calibri Light (Headings)</vt:lpstr>
      <vt:lpstr>Arial</vt:lpstr>
      <vt:lpstr>Calibri</vt:lpstr>
      <vt:lpstr>Calibri Light</vt:lpstr>
      <vt:lpstr>Office Theme</vt:lpstr>
      <vt:lpstr>InheritedWidget - Cơ sở của Provider </vt:lpstr>
      <vt:lpstr>Nội dung</vt:lpstr>
      <vt:lpstr>Nội dung</vt:lpstr>
      <vt:lpstr>Future</vt:lpstr>
      <vt:lpstr>Future</vt:lpstr>
      <vt:lpstr>async/await</vt:lpstr>
      <vt:lpstr>Nội dung</vt:lpstr>
      <vt:lpstr>FutureBuilder</vt:lpstr>
      <vt:lpstr>FutureBuilder</vt:lpstr>
      <vt:lpstr>Nội dung</vt:lpstr>
      <vt:lpstr>FutureBuilder</vt:lpstr>
      <vt:lpstr>FutureBuilder</vt:lpstr>
      <vt:lpstr>FutureBuilder</vt:lpstr>
      <vt:lpstr>FutureBuilder</vt:lpstr>
      <vt:lpstr>FutureBuilder</vt:lpstr>
      <vt:lpstr>FutureBuilder</vt:lpstr>
      <vt:lpstr>FutureBuilder</vt:lpstr>
      <vt:lpstr>FutureBuilder</vt:lpstr>
      <vt:lpstr>Nội dung</vt:lpstr>
      <vt:lpstr>FutureBuilder</vt:lpstr>
      <vt:lpstr>FutureBuilder</vt:lpstr>
      <vt:lpstr>FutureBuilder</vt:lpstr>
      <vt:lpstr>Nội dung</vt:lpstr>
      <vt:lpstr>FutureBuilder</vt:lpstr>
      <vt:lpstr>FutureBuilder</vt:lpstr>
      <vt:lpstr>Phân công công việc</vt:lpstr>
      <vt:lpstr>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&lt;&lt;Tên chủ đề&gt;&gt;</dc:title>
  <dc:creator>ndnvien@dut.udn.vn</dc:creator>
  <cp:lastModifiedBy>Trần Anh Toàn</cp:lastModifiedBy>
  <cp:revision>106</cp:revision>
  <dcterms:created xsi:type="dcterms:W3CDTF">2023-10-18T00:10:58Z</dcterms:created>
  <dcterms:modified xsi:type="dcterms:W3CDTF">2025-11-10T13:46:34Z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0x01010070F6614CC20C2341913E41528EE4FF97</vt:lpwstr>
  </property>
  <property fmtid="{D5CDD505-2E9C-101B-9397-08002B2CF9AE}" pid="3" name="MediaServiceImageTags">
    <vt:lpwstr/>
  </property>
</Properties>
</file>